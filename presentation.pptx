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as a database designed to support the full vaccine R&amp;D lifecycle, from candidate and formulation data to clinical studies, lab tests and adverse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goal is not just storing data. The database also protects data quality and makes the information useful for analysis and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groups. The database follows a clear lifecycle from development and manufacturing through clinical testing and safety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ERD to explain that the model keeps relationships explicit through foreign keys and associative tables. Point out the two many-to-many relationships: vaccine candidates to antigens, and participants to clinical phases.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normalization is visible in the table structure, especially the associative tables. The design targets Third Normal Form to reduce redundancy and update anomalies.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execution order because each script depends on objects created earlier. The database can be rebuilt cleanly from the scripts.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the test dataset is distributed across all tables. The largest operational tables are lab_tests and participant_enrollments, which supports realistic query and reporting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what the SQL enables: operational questions and analytical questions can be answered from the same normalized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these features move business rules into the database, which reduces dependence on application code for key integrity and safety behaviors.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verification as evidence, not just claims. The project includes built-in test cases for the trigger, procedure and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summarizing that the project demonstrates both database design fundamentals and practical SQL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6217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Vaccine Research &amp; Development Database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6647688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Moamn Dwidar  •  221001481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11512" y="1033272"/>
            <a:ext cx="128016" cy="128016"/>
          </a:xfrm>
          <a:prstGeom prst="ellipse">
            <a:avLst/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1097280"/>
            <a:ext cx="1097280" cy="822960"/>
          </a:xfrm>
          <a:prstGeom prst="line">
            <a:avLst/>
          </a:prstGeom>
          <a:noFill/>
          <a:ln w="25400">
            <a:solidFill>
              <a:srgbClr val="4DB7C7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08792" y="1856232"/>
            <a:ext cx="128016" cy="128016"/>
          </a:xfrm>
          <a:prstGeom prst="ellipse">
            <a:avLst/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1920240"/>
            <a:ext cx="-1371600" cy="822960"/>
          </a:xfrm>
          <a:prstGeom prst="line">
            <a:avLst/>
          </a:prstGeom>
          <a:noFill/>
          <a:ln w="25400">
            <a:solidFill>
              <a:srgbClr val="4DB7C7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37192" y="2679192"/>
            <a:ext cx="128016" cy="128016"/>
          </a:xfrm>
          <a:prstGeom prst="ellipse">
            <a:avLst/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0" y="2743200"/>
            <a:ext cx="1554480" cy="1005840"/>
          </a:xfrm>
          <a:prstGeom prst="line">
            <a:avLst/>
          </a:prstGeom>
          <a:noFill/>
          <a:ln w="25400">
            <a:solidFill>
              <a:srgbClr val="4DB7C7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91672" y="3685032"/>
            <a:ext cx="128016" cy="128016"/>
          </a:xfrm>
          <a:prstGeom prst="ellipse">
            <a:avLst/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0" y="3749040"/>
            <a:ext cx="-2194560" cy="182880"/>
          </a:xfrm>
          <a:prstGeom prst="line">
            <a:avLst/>
          </a:prstGeom>
          <a:noFill/>
          <a:ln w="25400">
            <a:solidFill>
              <a:srgbClr val="4DB7C7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97112" y="3867912"/>
            <a:ext cx="128016" cy="128016"/>
          </a:xfrm>
          <a:prstGeom prst="ellipse">
            <a:avLst/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0" y="3931920"/>
            <a:ext cx="1188720" cy="914400"/>
          </a:xfrm>
          <a:prstGeom prst="line">
            <a:avLst/>
          </a:prstGeom>
          <a:noFill/>
          <a:ln w="25400">
            <a:solidFill>
              <a:srgbClr val="4DB7C7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85832" y="4782312"/>
            <a:ext cx="128016" cy="128016"/>
          </a:xfrm>
          <a:prstGeom prst="ellipse">
            <a:avLst/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822960"/>
            <a:ext cx="109728" cy="4389120"/>
          </a:xfrm>
          <a:prstGeom prst="rect">
            <a:avLst/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9875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5B8C8"/>
                </a:solidFill>
              </a:rPr>
              <a:t>VACCINE R&amp;D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1417320"/>
            <a:ext cx="7132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Vaccine Research &amp;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Development Database</a:t>
            </a:r>
            <a:endParaRPr lang="en-US" sz="3500" dirty="0"/>
          </a:p>
        </p:txBody>
      </p:sp>
      <p:sp>
        <p:nvSpPr>
          <p:cNvPr id="17" name="Text 15"/>
          <p:cNvSpPr/>
          <p:nvPr/>
        </p:nvSpPr>
        <p:spPr>
          <a:xfrm>
            <a:off x="987552" y="30632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AF2"/>
                </a:solidFill>
              </a:rPr>
              <a:t>A MySQL database for managing vaccine candidates, formulations, clinical studies, participants, laboratory results and safety data.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87552" y="416052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78992" y="4238244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 SQL 8.0+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416052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4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0" y="42382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 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416052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35B8C8"/>
          </a:solidFill>
          <a:ln w="12700">
            <a:solidFill>
              <a:srgbClr val="35B8C8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4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931920" y="423824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VIEWS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4160520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4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42382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87552" y="51206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7D7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87552" y="5376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Moamn Dwidar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7552" y="5760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AF2"/>
                </a:solidFill>
              </a:rPr>
              <a:t>ID: 221001481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0" y="5989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FC7D7"/>
                </a:solidFill>
              </a:rPr>
              <a:t>Fundamentals of Databases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What the database is designed to solve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4480560"/>
          </a:xfrm>
          <a:prstGeom prst="rect">
            <a:avLst/>
          </a:prstGeom>
          <a:solidFill>
            <a:srgbClr val="C95A5A"/>
          </a:solidFill>
          <a:ln w="12700">
            <a:solidFill>
              <a:srgbClr val="C9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8191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3209544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Vaccine R&amp;D creates connected data across researchers, sites, candidates, formulations, trials, participants, laboratory testing and safety monitoring.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Without a structured database, this information becomes duplicated, difficult to query and harder to validate.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417320"/>
            <a:ext cx="64008" cy="4480560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8191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The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44568" y="1984248"/>
            <a:ext cx="3209544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A normalized MySQL database that links the main entities through primary and foreign keys.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It supports data integrity, reporting queries, automated validation and reusable business logic.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417320"/>
            <a:ext cx="64008" cy="4480560"/>
          </a:xfrm>
          <a:prstGeom prst="rect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58191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Project objectives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39328" y="1984248"/>
            <a:ext cx="3209544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Model the vaccine R&amp;D workflow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Store realistic test data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Implement constraints and relationships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Create analytical SQL queries and views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Add triggers, a procedure and a function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Verify the database with test cases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scope &amp; core entities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13 tables organized around the vaccine development lifecycle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53312"/>
            <a:ext cx="3246120" cy="512064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996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R&amp;D foundation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148840"/>
            <a:ext cx="164592" cy="164592"/>
          </a:xfrm>
          <a:prstGeom prst="ellipse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84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researchers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2679192"/>
            <a:ext cx="164592" cy="164592"/>
          </a:xfrm>
          <a:prstGeom prst="ellipse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615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sites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209544"/>
            <a:ext cx="164592" cy="164592"/>
          </a:xfrm>
          <a:prstGeom prst="ellipse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vaccine_candidates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39896"/>
            <a:ext cx="164592" cy="164592"/>
          </a:xfrm>
          <a:prstGeom prst="ellipse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675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antigens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41648" y="1353312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1353312"/>
            <a:ext cx="3246120" cy="512064"/>
          </a:xfrm>
          <a:prstGeom prst="rect">
            <a:avLst/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24528" y="14996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Manufacturing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51960" y="2148840"/>
            <a:ext cx="164592" cy="164592"/>
          </a:xfrm>
          <a:prstGeom prst="ellipse">
            <a:avLst/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vaccine_antigens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2679192"/>
            <a:ext cx="164592" cy="164592"/>
          </a:xfrm>
          <a:prstGeom prst="ellipse">
            <a:avLst/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2615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formulations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51960" y="3209544"/>
            <a:ext cx="164592" cy="164592"/>
          </a:xfrm>
          <a:prstGeom prst="ellipse">
            <a:avLst/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44568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batches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16368" y="1353312"/>
            <a:ext cx="3246120" cy="45262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1353312"/>
            <a:ext cx="3246120" cy="512064"/>
          </a:xfrm>
          <a:prstGeom prst="rect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14996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Studies &amp; safety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26680" y="2148840"/>
            <a:ext cx="164592" cy="164592"/>
          </a:xfrm>
          <a:prstGeom prst="ellipse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9288" y="20848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preclinical_studies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26680" y="2679192"/>
            <a:ext cx="164592" cy="164592"/>
          </a:xfrm>
          <a:prstGeom prst="ellipse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19288" y="2615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clinical_study_phases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26680" y="3209544"/>
            <a:ext cx="164592" cy="164592"/>
          </a:xfrm>
          <a:prstGeom prst="ellipse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9288" y="31455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participants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726680" y="3739896"/>
            <a:ext cx="164592" cy="164592"/>
          </a:xfrm>
          <a:prstGeom prst="ellipse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9288" y="3675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participant_enrollments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726680" y="4270248"/>
            <a:ext cx="164592" cy="164592"/>
          </a:xfrm>
          <a:prstGeom prst="ellipse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19288" y="4206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lab_tests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726680" y="4800600"/>
            <a:ext cx="164592" cy="164592"/>
          </a:xfrm>
          <a:prstGeom prst="ellipse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19288" y="47365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3040"/>
                </a:solidFill>
              </a:rPr>
              <a:t>adverse_events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" y="6035040"/>
            <a:ext cx="10835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B5D"/>
                </a:solidFill>
              </a:rPr>
              <a:t>Workflow: candidate → antigen/formulation → batch → preclinical → clinical phase → enrollment → lab tests / adverse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Entity-Relationship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The ERD shows how the 13 entities connect</a:t>
            </a:r>
            <a:endParaRPr lang="en-US" sz="1100" dirty="0"/>
          </a:p>
        </p:txBody>
      </p:sp>
      <p:pic>
        <p:nvPicPr>
          <p:cNvPr id="4" name="Image 0" descr="/mnt/data/dbproj/diagrams/E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61872"/>
            <a:ext cx="10881360" cy="5074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458200" y="1353312"/>
            <a:ext cx="2697480" cy="475488"/>
          </a:xfrm>
          <a:prstGeom prst="roundRect">
            <a:avLst>
              <a:gd name="adj" fmla="val 9615"/>
            </a:avLst>
          </a:prstGeom>
          <a:solidFill>
            <a:srgbClr val="123B5D">
              <a:alpha val="95000"/>
            </a:srgbClr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77072" y="1490472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idea: relationships are explicit, not duplicated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Relational design &amp; normalization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How the schema avoids duplication and inconsistency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53312"/>
            <a:ext cx="64008" cy="4526280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1790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1. Many-to-many relationships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920240"/>
            <a:ext cx="3209544" cy="3831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Vaccine ↔ Antigen is resolved by `vaccine_antigens`.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Participant ↔ Clinical Phase is resolved by `participant_enrollments`.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34256" y="1353312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4256" y="1353312"/>
            <a:ext cx="64008" cy="4526280"/>
          </a:xfrm>
          <a:prstGeom prst="rect">
            <a:avLst/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51790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2. Integrity constraints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35424" y="1920240"/>
            <a:ext cx="3209544" cy="3831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Primary keys identify records.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Foreign keys preserve valid relationships.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UNIQUE constraints prevent duplicate codes and protocols.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CHECK constraints validate numeric/date rules.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01584" y="1353312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353312"/>
            <a:ext cx="64008" cy="4526280"/>
          </a:xfrm>
          <a:prstGeom prst="rect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17904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3. 3NF target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920240"/>
            <a:ext cx="3209544" cy="3831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1NF: atomic values and no repeating groups.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2NF: non-key attributes depend on the whole key.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3NF: no unnecessary transitive dependencies.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in MySQL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Scripts are separated by responsibility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475488" cy="475488"/>
          </a:xfrm>
          <a:prstGeom prst="ellipse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9047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1335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create_tables.sql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133502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40"/>
                </a:solidFill>
              </a:rPr>
              <a:t>Database, tables, keys, indexes, constraints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96112" y="1847088"/>
            <a:ext cx="0" cy="411480"/>
          </a:xfrm>
          <a:prstGeom prst="line">
            <a:avLst/>
          </a:prstGeom>
          <a:noFill/>
          <a:ln w="19050">
            <a:solidFill>
              <a:srgbClr val="B8C8D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2286000"/>
            <a:ext cx="475488" cy="475488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231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22677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load_data.sql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226771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40"/>
                </a:solidFill>
              </a:rPr>
              <a:t>Realistic test records across all 13 tables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" y="2779776"/>
            <a:ext cx="0" cy="411480"/>
          </a:xfrm>
          <a:prstGeom prst="line">
            <a:avLst/>
          </a:prstGeom>
          <a:noFill/>
          <a:ln w="19050">
            <a:solidFill>
              <a:srgbClr val="B8C8D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8368" y="3218688"/>
            <a:ext cx="475488" cy="475488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5584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32004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views.sql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94760" y="32004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40"/>
                </a:solidFill>
              </a:rPr>
              <a:t>Reusable reporting views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6112" y="3712464"/>
            <a:ext cx="0" cy="411480"/>
          </a:xfrm>
          <a:prstGeom prst="line">
            <a:avLst/>
          </a:prstGeom>
          <a:noFill/>
          <a:ln w="19050">
            <a:solidFill>
              <a:srgbClr val="B8C8D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" y="4151376"/>
            <a:ext cx="475488" cy="475488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28853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41330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triggers_procedures.sql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94760" y="41330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40"/>
                </a:solidFill>
              </a:rPr>
              <a:t>Triggers + enrollment procedure + safety function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6112" y="4645152"/>
            <a:ext cx="0" cy="411480"/>
          </a:xfrm>
          <a:prstGeom prst="line">
            <a:avLst/>
          </a:prstGeom>
          <a:noFill/>
          <a:ln w="19050">
            <a:solidFill>
              <a:srgbClr val="B8C8D5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" y="5084064"/>
            <a:ext cx="475488" cy="475488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5221224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25880" y="506577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queries.sql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5065776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83040"/>
                </a:solidFill>
              </a:rPr>
              <a:t>Retrieval, joins, aggregates, subqueries and updates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5577840"/>
            <a:ext cx="2971800" cy="512064"/>
          </a:xfrm>
          <a:prstGeom prst="roundRect">
            <a:avLst>
              <a:gd name="adj" fmla="val 7143"/>
            </a:avLst>
          </a:prstGeom>
          <a:solidFill>
            <a:srgbClr val="EEF6FA"/>
          </a:solidFill>
          <a:ln w="12700">
            <a:solidFill>
              <a:srgbClr val="C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11312" y="574243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B5D"/>
                </a:solidFill>
              </a:rPr>
              <a:t>MySQL 8.0+  •  InnoDB  •  utf8mb4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data coverage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The project includes populated records across every table</a:t>
            </a:r>
            <a:endParaRPr lang="en-US" sz="1100" dirty="0"/>
          </a:p>
        </p:txBody>
      </p:sp>
      <p:pic>
        <p:nvPicPr>
          <p:cNvPr id="4" name="Image 0" descr="/mnt/data/dbproj/row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280160"/>
            <a:ext cx="781812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13648" y="1353312"/>
            <a:ext cx="2971800" cy="43434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13648" y="1353312"/>
            <a:ext cx="64008" cy="4343400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14816" y="1517904"/>
            <a:ext cx="2660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Coverage highlights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14816" y="1920240"/>
            <a:ext cx="2660904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200 total test records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30 lab tests — largest dataset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25 participant enrollments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20 participants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15 batches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13 clinical phases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13 vaccine–antigen links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12 antigens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12 formulations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10 researchers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10 sites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10 vaccine candidates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15 adverse events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querying &amp; reporting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From simple retrieval to analytical queries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182112" cy="4343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17320"/>
            <a:ext cx="64008" cy="4343400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8191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Basic &amp; joins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984248"/>
            <a:ext cx="2871216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Phase III candidates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Active/recruiting phases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Vaccine + antigen composition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Full clinical phase details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105656" y="1417320"/>
            <a:ext cx="3182112" cy="4343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05656" y="1417320"/>
            <a:ext cx="64008" cy="4343400"/>
          </a:xfrm>
          <a:prstGeom prst="rect">
            <a:avLst/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06824" y="158191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Aggregation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06824" y="1984248"/>
            <a:ext cx="2871216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Candidate counts by stage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Batch quantities by QC status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Adverse-event rates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Enrollment by site / trial arm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644384" y="1417320"/>
            <a:ext cx="3182112" cy="434340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44384" y="1417320"/>
            <a:ext cx="64008" cy="4343400"/>
          </a:xfrm>
          <a:prstGeom prst="rect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158191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Subqueries &amp; derived logic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45552" y="1984248"/>
            <a:ext cx="2871216" cy="3648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Participants with abnormal tests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Vaccines above average titer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Sites hosting above-average trials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• Safety-oriented filtering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1143000" y="5897880"/>
            <a:ext cx="9829800" cy="457200"/>
          </a:xfrm>
          <a:prstGeom prst="roundRect">
            <a:avLst>
              <a:gd name="adj" fmla="val 10000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53312" y="6044184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query portfolio demonstrates SELECT, JOIN, GROUP BY, HAVING, subqueries and data modification.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automation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Business rules are enforced inside the database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063240" cy="448056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664208"/>
            <a:ext cx="502920" cy="502920"/>
          </a:xfrm>
          <a:prstGeom prst="ellipse">
            <a:avLst/>
          </a:prstGeom>
          <a:solidFill>
            <a:srgbClr val="C95A5A"/>
          </a:solidFill>
          <a:ln w="12700">
            <a:solidFill>
              <a:srgbClr val="C9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81328" y="1700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Trigger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0392" y="24231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C95A5A"/>
          </a:solidFill>
          <a:ln w="12700">
            <a:solidFill>
              <a:srgbClr val="C95A5A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4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41832" y="25008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Safety flag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040"/>
                </a:solidFill>
              </a:rPr>
              <a:t>A severe adverse event automatically sets `serious_event = TRUE`.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69080" y="1417320"/>
            <a:ext cx="3063240" cy="448056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1664208"/>
            <a:ext cx="502920" cy="502920"/>
          </a:xfrm>
          <a:prstGeom prst="ellipse">
            <a:avLst/>
          </a:prstGeom>
          <a:solidFill>
            <a:srgbClr val="E58D4A"/>
          </a:solidFill>
          <a:ln w="12700">
            <a:solidFill>
              <a:srgbClr val="E58D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700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Trigger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79392" y="24231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E58D4A"/>
          </a:solidFill>
          <a:ln w="12700">
            <a:solidFill>
              <a:srgbClr val="E58D4A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70832" y="25008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 control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9718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040"/>
                </a:solidFill>
              </a:rPr>
              <a:t>A batch cannot be inserted directly as `Released` before the required QC flow.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1417320"/>
            <a:ext cx="3063240" cy="448056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08392" y="1664208"/>
            <a:ext cx="502920" cy="502920"/>
          </a:xfrm>
          <a:prstGeom prst="ellipse">
            <a:avLst/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1700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Procedure + function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08392" y="242316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1B8E8A"/>
          </a:solidFill>
          <a:ln w="12700">
            <a:solidFill>
              <a:srgbClr val="1B8E8A"/>
            </a:solidFill>
            <a:prstDash val="solid"/>
          </a:ln>
          <a:effectLst>
            <a:outerShdw sx="100000" sy="100000" kx="0" ky="0" algn="bl" rotWithShape="0" blurRad="12700" dist="50800" dir="2700000">
              <a:srgbClr val="AAB8C4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99832" y="250088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Reusable logic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2971800"/>
            <a:ext cx="2606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3040"/>
                </a:solidFill>
              </a:rPr>
              <a:t>`sp_enroll_participant` safely enrolls participants, while `fn_adverse_event_rate` calculates adverse events per 100 enrolled participants.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610819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B5D"/>
                </a:solidFill>
              </a:rPr>
              <a:t>Result: important rules remain consistent even when data is changed outside a front-end application.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Views &amp; verification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Reusable reporting plus explicit test cases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371600"/>
            <a:ext cx="64008" cy="4480560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3619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Reporting views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1938528"/>
            <a:ext cx="3209544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Three views provide reusable reporting logic, including active recruitment and other recurring operational summaries.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Views reduce repeated complex JOIN logic for end users.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34256" y="137160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34256" y="1371600"/>
            <a:ext cx="64008" cy="4480560"/>
          </a:xfrm>
          <a:prstGeom prst="rect">
            <a:avLst/>
          </a:prstGeom>
          <a:solidFill>
            <a:srgbClr val="C95A5A"/>
          </a:solidFill>
          <a:ln w="12700">
            <a:solidFill>
              <a:srgbClr val="C95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53619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Trigger test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35424" y="1938528"/>
            <a:ext cx="3209544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A `Severe` adverse event is inserted and then checked to confirm the trigger automatically sets the serious-event flag.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01584" y="1371600"/>
            <a:ext cx="3520440" cy="448056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  <a:effectLst>
            <a:outerShdw sx="100000" sy="100000" kx="0" ky="0" algn="bl" rotWithShape="0" blurRad="25400" dist="50800" dir="2700000">
              <a:srgbClr val="B9C7D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371600"/>
            <a:ext cx="64008" cy="4480560"/>
          </a:xfrm>
          <a:prstGeom prst="rect">
            <a:avLst/>
          </a:prstGeom>
          <a:solidFill>
            <a:srgbClr val="5FA67A"/>
          </a:solidFill>
          <a:ln w="12700">
            <a:solidFill>
              <a:srgbClr val="5FA6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36192"/>
            <a:ext cx="3209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B5D"/>
                </a:solidFill>
              </a:rPr>
              <a:t>Procedure / function tests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938528"/>
            <a:ext cx="3209544" cy="3785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The enrollment procedure is tested with valid and invalid phases / target conditions.</a:t>
            </a:r>
            <a:endParaRPr lang="en-US" sz="1080" dirty="0"/>
          </a:p>
          <a:p>
            <a:pPr marL="165100" indent="-165100">
              <a:buSzPct val="100000"/>
              <a:buChar char="•"/>
            </a:pPr>
            <a:endParaRPr lang="en-US" sz="1080" dirty="0"/>
          </a:p>
          <a:p>
            <a:pPr marL="165100" indent="-165100">
              <a:buSzPct val="100000"/>
              <a:buChar char="•"/>
            </a:pPr>
            <a:r>
              <a:rPr lang="en-US" sz="1080" dirty="0">
                <a:solidFill>
                  <a:srgbClr val="183040"/>
                </a:solidFill>
              </a:rPr>
              <a:t>The safety-rate function is called and its calculated rate is verified.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011680" y="5925312"/>
            <a:ext cx="8138160" cy="411480"/>
          </a:xfrm>
          <a:prstGeom prst="roundRect">
            <a:avLst>
              <a:gd name="adj" fmla="val 8889"/>
            </a:avLst>
          </a:prstGeom>
          <a:solidFill>
            <a:srgbClr val="EEF6FA"/>
          </a:solidFill>
          <a:ln w="12700">
            <a:solidFill>
              <a:srgbClr val="C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2848" y="6044184"/>
            <a:ext cx="7726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3B5D"/>
                </a:solidFill>
              </a:rPr>
              <a:t>Verification approach: test the rule → inspect the result → confirm expected behavior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What this project demonstrates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6492240" cy="4480560"/>
          </a:xfrm>
          <a:prstGeom prst="roundRect">
            <a:avLst>
              <a:gd name="adj" fmla="val 142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830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complete database solution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5577840" cy="2423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7"/>
                </a:solidFill>
              </a:rPr>
              <a:t>Models the complete vaccine R&amp;D lifecycle in a structured relational schema.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7"/>
                </a:solidFill>
              </a:rPr>
              <a:t>Uses keys, constraints and normalization to protect data integrity.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7"/>
                </a:solidFill>
              </a:rPr>
              <a:t>Supports meaningful reporting through views and a broad SQL query portfolio.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7"/>
                </a:solidFill>
              </a:rPr>
              <a:t>Automates critical rules with triggers, a stored procedure and a function.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AF2F7"/>
                </a:solidFill>
              </a:rPr>
              <a:t>Includes realistic test data and verification cases across the database.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5D"/>
                </a:solidFill>
              </a:rPr>
              <a:t>Future direction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4290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040"/>
                </a:solidFill>
              </a:rPr>
              <a:t>Role-based access control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040"/>
                </a:solidFill>
              </a:rPr>
              <a:t>Connected front-end dashboard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83040"/>
                </a:solidFill>
              </a:rPr>
              <a:t>More advanced validation and audit trails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35240" y="4251960"/>
            <a:ext cx="3337560" cy="1143000"/>
          </a:xfrm>
          <a:prstGeom prst="roundRect">
            <a:avLst>
              <a:gd name="adj" fmla="val 4800"/>
            </a:avLst>
          </a:prstGeom>
          <a:solidFill>
            <a:srgbClr val="EEF6FA"/>
          </a:solidFill>
          <a:ln w="12700">
            <a:solidFill>
              <a:srgbClr val="C9E0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4517136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23B5D"/>
                </a:solidFill>
              </a:rPr>
              <a:t>Thank you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863840" y="501091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8"/>
                </a:solidFill>
              </a:rPr>
              <a:t>Moamn Dwidar  •  221001481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6248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6B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Fundamentals of Databases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Vaccine Research &amp; Development Database</dc:title>
  <dc:subject>Vaccine Research &amp; Development Database</dc:subject>
  <dc:creator>Moamn Dwidar</dc:creator>
  <cp:lastModifiedBy>Moamn Dwidar</cp:lastModifiedBy>
  <cp:revision>1</cp:revision>
  <dcterms:created xsi:type="dcterms:W3CDTF">2026-08-15T23:04:20Z</dcterms:created>
  <dcterms:modified xsi:type="dcterms:W3CDTF">2026-08-15T23:04:20Z</dcterms:modified>
</cp:coreProperties>
</file>